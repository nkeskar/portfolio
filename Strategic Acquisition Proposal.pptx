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IN" dirty="0"/>
              <a:t>Industry Size 2025 - 2035 ($B)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Size ($B)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pattFill prst="narHorz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082C-4BE5-872D-0B0CF3C94D18}"/>
              </c:ext>
            </c:extLst>
          </c:dPt>
          <c:dPt>
            <c:idx val="1"/>
            <c:invertIfNegative val="1"/>
            <c:bubble3D val="0"/>
            <c:spPr>
              <a:pattFill prst="narHorz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082C-4BE5-872D-0B0CF3C94D18}"/>
              </c:ext>
            </c:extLst>
          </c:dPt>
          <c:dPt>
            <c:idx val="2"/>
            <c:invertIfNegative val="1"/>
            <c:bubble3D val="0"/>
            <c:spPr>
              <a:pattFill prst="narHorz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082C-4BE5-872D-0B0CF3C94D18}"/>
              </c:ext>
            </c:extLst>
          </c:dPt>
          <c:dPt>
            <c:idx val="3"/>
            <c:invertIfNegative val="1"/>
            <c:bubble3D val="0"/>
            <c:spPr>
              <a:pattFill prst="narHorz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082C-4BE5-872D-0B0CF3C94D18}"/>
              </c:ext>
            </c:extLst>
          </c:dPt>
          <c:dPt>
            <c:idx val="4"/>
            <c:invertIfNegative val="1"/>
            <c:bubble3D val="0"/>
            <c:spPr>
              <a:pattFill prst="narHorz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5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9-082C-4BE5-872D-0B0CF3C94D18}"/>
              </c:ext>
            </c:extLst>
          </c:dPt>
          <c:dPt>
            <c:idx val="5"/>
            <c:invertIfNegative val="1"/>
            <c:bubble3D val="0"/>
            <c:spPr>
              <a:pattFill prst="narHorz">
                <a:fgClr>
                  <a:schemeClr val="accent6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6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B-082C-4BE5-872D-0B0CF3C94D18}"/>
              </c:ext>
            </c:extLst>
          </c:dPt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2027</c:v>
                </c:pt>
                <c:pt idx="2">
                  <c:v>2029</c:v>
                </c:pt>
                <c:pt idx="3">
                  <c:v>2031</c:v>
                </c:pt>
                <c:pt idx="4">
                  <c:v>2033</c:v>
                </c:pt>
                <c:pt idx="5">
                  <c:v>2035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48.5</c:v>
                </c:pt>
                <c:pt idx="1">
                  <c:v>55.1</c:v>
                </c:pt>
                <c:pt idx="2">
                  <c:v>62.6</c:v>
                </c:pt>
                <c:pt idx="3">
                  <c:v>71.099999999999994</c:v>
                </c:pt>
                <c:pt idx="4">
                  <c:v>80.7</c:v>
                </c:pt>
                <c:pt idx="5">
                  <c:v>90.2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82C-4BE5-872D-0B0CF3C94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  <a:prstDash val="lgDash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IN"/>
              <a:t>Total Pre-tax Synergy ($M)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Pre-tax Synergy ($M)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pattFill prst="narHorz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A13F-4399-BCC1-F0230EE5A189}"/>
              </c:ext>
            </c:extLst>
          </c:dPt>
          <c:dPt>
            <c:idx val="1"/>
            <c:invertIfNegative val="1"/>
            <c:bubble3D val="0"/>
            <c:spPr>
              <a:pattFill prst="narHorz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A13F-4399-BCC1-F0230EE5A189}"/>
              </c:ext>
            </c:extLst>
          </c:dPt>
          <c:dPt>
            <c:idx val="2"/>
            <c:invertIfNegative val="1"/>
            <c:bubble3D val="0"/>
            <c:spPr>
              <a:pattFill prst="narHorz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A13F-4399-BCC1-F0230EE5A189}"/>
              </c:ext>
            </c:extLst>
          </c:dPt>
          <c:dPt>
            <c:idx val="3"/>
            <c:invertIfNegative val="1"/>
            <c:bubble3D val="0"/>
            <c:spPr>
              <a:pattFill prst="narHorz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A13F-4399-BCC1-F0230EE5A189}"/>
              </c:ext>
            </c:extLst>
          </c:dPt>
          <c:dPt>
            <c:idx val="4"/>
            <c:invertIfNegative val="1"/>
            <c:bubble3D val="0"/>
            <c:spPr>
              <a:pattFill prst="narHorz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5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9-A13F-4399-BCC1-F0230EE5A1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37.9</c:v>
                </c:pt>
                <c:pt idx="1">
                  <c:v>49.4</c:v>
                </c:pt>
                <c:pt idx="2">
                  <c:v>57</c:v>
                </c:pt>
                <c:pt idx="3">
                  <c:v>53.2</c:v>
                </c:pt>
                <c:pt idx="4">
                  <c:v>45.6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3F-4399-BCC1-F0230EE5A1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0.10773</cdr:x>
      <cdr:y>0.15638</cdr:y>
    </cdr:from>
    <cdr:to>
      <cdr:x>0.93333</cdr:x>
      <cdr:y>0.47622</cdr:y>
    </cdr:to>
    <cdr:cxnSp macro="">
      <cdr:nvCxnSpPr>
        <cdr:cNvPr id="2" name="Straight Arrow Connector 1">
          <a:extLst xmlns:a="http://schemas.openxmlformats.org/drawingml/2006/main">
            <a:ext uri="{FF2B5EF4-FFF2-40B4-BE49-F238E27FC236}">
              <a16:creationId xmlns:a16="http://schemas.microsoft.com/office/drawing/2014/main" id="{CE9A8976-5F60-5817-BED5-5819E6625C2A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 flipV="1">
          <a:off x="640329" y="571970"/>
          <a:ext cx="4907031" cy="116986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prstDash val="dash"/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openxmlformats.org/officeDocument/2006/relationships/image" Target="../media/image19.svg"/><Relationship Id="rId12" Type="http://schemas.openxmlformats.org/officeDocument/2006/relationships/image" Target="../media/image23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7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714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 </a:t>
            </a:r>
            <a:r>
              <a:rPr lang="en-US" sz="4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NOODLES &amp; COMPANY</a:t>
            </a:r>
            <a:r>
              <a:rPr lang="en-US" sz="4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DEAL</a:t>
            </a:r>
            <a:endParaRPr sz="4400" b="1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STRATEGIC ACQUISITION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4206240"/>
            <a:ext cx="1828800" cy="228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2743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NYSE: CAVA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2735" y="6537960"/>
            <a:ext cx="2743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NASDAQ: NDLS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48327"/>
            <a:ext cx="11460175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ADVISORY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 |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894" y="3143706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Snigdha Thakkar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894" y="3463747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1127" y="3154679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Harshul Shetty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407" y="3474720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767" y="3154679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Venkatesh Pathak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2767" y="3474720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0127" y="3154679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Niranjan Keskar</a:t>
            </a:r>
            <a:endParaRPr sz="1400" b="1" i="0" dirty="0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0127" y="3474720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7487" y="3154679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Hritik Jaipuriya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7487" y="3474720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8306" y="3154679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Riya Gupta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8306" y="3474720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M.S. Finance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118F5AE-3FCE-B5B4-2798-6BCDA66E6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44" t="4297" r="25204" b="51264"/>
          <a:stretch>
            <a:fillRect/>
          </a:stretch>
        </p:blipFill>
        <p:spPr>
          <a:xfrm>
            <a:off x="8014790" y="1352115"/>
            <a:ext cx="1376117" cy="1695715"/>
          </a:xfrm>
          <a:prstGeom prst="rect">
            <a:avLst/>
          </a:prstGeom>
        </p:spPr>
      </p:pic>
      <p:pic>
        <p:nvPicPr>
          <p:cNvPr id="34" name="Picture 33" descr="ILLINOIS BUSINESS.&#10;&#10;AI-generated content may be incorrect.">
            <a:extLst>
              <a:ext uri="{FF2B5EF4-FFF2-40B4-BE49-F238E27FC236}">
                <a16:creationId xmlns:a16="http://schemas.microsoft.com/office/drawing/2014/main" id="{0B4B89B9-BA5E-2251-EBA2-65DC49AA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04" r="14261"/>
          <a:stretch>
            <a:fillRect/>
          </a:stretch>
        </p:blipFill>
        <p:spPr>
          <a:xfrm>
            <a:off x="4540288" y="1349867"/>
            <a:ext cx="1373757" cy="1697963"/>
          </a:xfrm>
          <a:prstGeom prst="rect">
            <a:avLst/>
          </a:prstGeom>
        </p:spPr>
      </p:pic>
      <p:pic>
        <p:nvPicPr>
          <p:cNvPr id="35" name="Picture 3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703728DE-3E92-223E-79D3-540712D75B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326"/>
          <a:stretch>
            <a:fillRect/>
          </a:stretch>
        </p:blipFill>
        <p:spPr>
          <a:xfrm>
            <a:off x="2900917" y="1349867"/>
            <a:ext cx="1382198" cy="1695718"/>
          </a:xfrm>
          <a:prstGeom prst="rect">
            <a:avLst/>
          </a:prstGeom>
        </p:spPr>
      </p:pic>
      <p:pic>
        <p:nvPicPr>
          <p:cNvPr id="36" name="Picture 35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5B09E333-ADBD-D4CE-23B9-2DE7F04A5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7" t="362" r="26077" b="-362"/>
          <a:stretch>
            <a:fillRect/>
          </a:stretch>
        </p:blipFill>
        <p:spPr>
          <a:xfrm>
            <a:off x="9661752" y="1345133"/>
            <a:ext cx="1341223" cy="16957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5AF706C-478A-6944-1FBE-C13F1707DB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450" t="19304" r="27830"/>
          <a:stretch>
            <a:fillRect/>
          </a:stretch>
        </p:blipFill>
        <p:spPr>
          <a:xfrm>
            <a:off x="1189025" y="1367203"/>
            <a:ext cx="1374192" cy="16909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840AABB-BB65-3128-A9DC-C67F689AA9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833" r="15833"/>
          <a:stretch>
            <a:fillRect/>
          </a:stretch>
        </p:blipFill>
        <p:spPr>
          <a:xfrm>
            <a:off x="6156000" y="1345132"/>
            <a:ext cx="1584000" cy="1713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46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531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18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103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Acquirer Profile </a:t>
            </a:r>
            <a:r>
              <a:rPr lang="en-US"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CAVA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90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75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Profile </a:t>
            </a:r>
            <a:r>
              <a:rPr lang="en-US"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Noodles &amp;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862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247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434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819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006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391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 Valuation </a:t>
            </a:r>
            <a:r>
              <a:rPr lang="en-US"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578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963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 Valuation </a:t>
            </a:r>
            <a:r>
              <a:rPr lang="en-US"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300" b="0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Noodles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150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535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Comparable Companies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722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107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Precedent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294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679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Football Field 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2146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2531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Price &amp;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6718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7103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of Synergies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290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1675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Ramp &amp; Present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5862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6247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NPV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434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0819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Financing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5006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5391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Capital 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578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9963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WACC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4150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535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Income Statement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8722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9107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Post-Merger Stock Price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329434"/>
            <a:ext cx="5486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367906"/>
            <a:ext cx="475488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978407"/>
            <a:ext cx="5166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100% all-cash acquisition of NDLS by CAVA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749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$16.39/share offer (36.0% premium over $12.05 unaffected)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$96.5M equity purchase price; absorbs $105.6M NDLS debt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86868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7"/>
            <a:ext cx="5166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Convert 320 NDLS company-owned restaurants to CAVA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Replicates the proven Zoë's Kitchen conversion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0604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~½ the cost of greenfield builds, faster ramp to AUV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3675888"/>
            <a:ext cx="5166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$144.3M after-tax PV of synergies vs. $25.6M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5.6× coverage of premium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Capex savings ($136M) + faster-opening benefit ($46.7M)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56616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0" y="3675888"/>
            <a:ext cx="51663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NPV &amp; STOCK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2336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+$113.9M NPV to CAVA shareholders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6344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+$30.4M NPV to NDLS shareholders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303520"/>
            <a:ext cx="5074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+5.4% implied share price appreciation ($79.40 → $83.67)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Group analysis; CAVA 10-K FY2025; Noodles 10-K FY2025; team financial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ACQUIRER PROFILE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CAVA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486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NYSE: CAVA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985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$1.18B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1985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RESTAURANTS (28 STATES + 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433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YOY REVENUE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7433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$393M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5760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 &amp; INVESTMENTS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499003"/>
            <a:ext cx="53949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EARLY-STAGE EXPANSION  |  ~2,400-STORE 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822960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Fast-casual Mediterranean concept offering chef-curated, customizable bowls &amp; pitas with fresh ingredients and bold flavors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Hybrid revenue model: restaurant sales + consumer-packaged goods (CPG) </a:t>
            </a:r>
            <a:r>
              <a:rPr lang="en-US"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differentiated from pure-play peers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4016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Company-owned restaurants (no franchising); strong unit economics with high AUV trajectory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80944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Currently in early-stage expansion phase </a:t>
            </a:r>
            <a:r>
              <a:rPr lang="en-US"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significant runway versus mature comp set (Chipotle, Shake Shack)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47872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Demonstrated execution: 22.4% revenue growth and improving operating margins despite aggressive footprint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CAVA Group 10-K, FY2025; William Blair Equity Research, December 2025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0111EF-8879-C1A4-F141-AEC6CCFA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6" y="4581435"/>
            <a:ext cx="4170518" cy="1824272"/>
          </a:xfrm>
          <a:custGeom>
            <a:avLst/>
            <a:gdLst>
              <a:gd name="csX0" fmla="*/ 0 w 4170518"/>
              <a:gd name="csY0" fmla="*/ 0 h 1824272"/>
              <a:gd name="csX1" fmla="*/ 736792 w 4170518"/>
              <a:gd name="csY1" fmla="*/ 0 h 1824272"/>
              <a:gd name="csX2" fmla="*/ 1473583 w 4170518"/>
              <a:gd name="csY2" fmla="*/ 0 h 1824272"/>
              <a:gd name="csX3" fmla="*/ 2252080 w 4170518"/>
              <a:gd name="csY3" fmla="*/ 0 h 1824272"/>
              <a:gd name="csX4" fmla="*/ 2947166 w 4170518"/>
              <a:gd name="csY4" fmla="*/ 0 h 1824272"/>
              <a:gd name="csX5" fmla="*/ 3558842 w 4170518"/>
              <a:gd name="csY5" fmla="*/ 0 h 1824272"/>
              <a:gd name="csX6" fmla="*/ 4170518 w 4170518"/>
              <a:gd name="csY6" fmla="*/ 0 h 1824272"/>
              <a:gd name="csX7" fmla="*/ 4170518 w 4170518"/>
              <a:gd name="csY7" fmla="*/ 553363 h 1824272"/>
              <a:gd name="csX8" fmla="*/ 4170518 w 4170518"/>
              <a:gd name="csY8" fmla="*/ 1124968 h 1824272"/>
              <a:gd name="csX9" fmla="*/ 4170518 w 4170518"/>
              <a:gd name="csY9" fmla="*/ 1824272 h 1824272"/>
              <a:gd name="csX10" fmla="*/ 3392021 w 4170518"/>
              <a:gd name="csY10" fmla="*/ 1824272 h 1824272"/>
              <a:gd name="csX11" fmla="*/ 2822051 w 4170518"/>
              <a:gd name="csY11" fmla="*/ 1824272 h 1824272"/>
              <a:gd name="csX12" fmla="*/ 2043554 w 4170518"/>
              <a:gd name="csY12" fmla="*/ 1824272 h 1824272"/>
              <a:gd name="csX13" fmla="*/ 1473583 w 4170518"/>
              <a:gd name="csY13" fmla="*/ 1824272 h 1824272"/>
              <a:gd name="csX14" fmla="*/ 736792 w 4170518"/>
              <a:gd name="csY14" fmla="*/ 1824272 h 1824272"/>
              <a:gd name="csX15" fmla="*/ 0 w 4170518"/>
              <a:gd name="csY15" fmla="*/ 1824272 h 1824272"/>
              <a:gd name="csX16" fmla="*/ 0 w 4170518"/>
              <a:gd name="csY16" fmla="*/ 1179696 h 1824272"/>
              <a:gd name="csX17" fmla="*/ 0 w 4170518"/>
              <a:gd name="csY17" fmla="*/ 535120 h 1824272"/>
              <a:gd name="csX18" fmla="*/ 0 w 4170518"/>
              <a:gd name="csY18" fmla="*/ 0 h 1824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70518" h="1824272" fill="none" extrusionOk="0">
                <a:moveTo>
                  <a:pt x="0" y="0"/>
                </a:moveTo>
                <a:cubicBezTo>
                  <a:pt x="238438" y="12550"/>
                  <a:pt x="505843" y="217"/>
                  <a:pt x="736792" y="0"/>
                </a:cubicBezTo>
                <a:cubicBezTo>
                  <a:pt x="967741" y="-217"/>
                  <a:pt x="1263998" y="-26233"/>
                  <a:pt x="1473583" y="0"/>
                </a:cubicBezTo>
                <a:cubicBezTo>
                  <a:pt x="1683168" y="26233"/>
                  <a:pt x="1958110" y="-21065"/>
                  <a:pt x="2252080" y="0"/>
                </a:cubicBezTo>
                <a:cubicBezTo>
                  <a:pt x="2546050" y="21065"/>
                  <a:pt x="2691737" y="-7764"/>
                  <a:pt x="2947166" y="0"/>
                </a:cubicBezTo>
                <a:cubicBezTo>
                  <a:pt x="3202595" y="7764"/>
                  <a:pt x="3279546" y="10063"/>
                  <a:pt x="3558842" y="0"/>
                </a:cubicBezTo>
                <a:cubicBezTo>
                  <a:pt x="3838138" y="-10063"/>
                  <a:pt x="3981342" y="9922"/>
                  <a:pt x="4170518" y="0"/>
                </a:cubicBezTo>
                <a:cubicBezTo>
                  <a:pt x="4192610" y="240227"/>
                  <a:pt x="4179539" y="395932"/>
                  <a:pt x="4170518" y="553363"/>
                </a:cubicBezTo>
                <a:cubicBezTo>
                  <a:pt x="4161497" y="710794"/>
                  <a:pt x="4182005" y="936833"/>
                  <a:pt x="4170518" y="1124968"/>
                </a:cubicBezTo>
                <a:cubicBezTo>
                  <a:pt x="4159031" y="1313103"/>
                  <a:pt x="4162789" y="1549230"/>
                  <a:pt x="4170518" y="1824272"/>
                </a:cubicBezTo>
                <a:cubicBezTo>
                  <a:pt x="3845937" y="1859190"/>
                  <a:pt x="3553888" y="1802350"/>
                  <a:pt x="3392021" y="1824272"/>
                </a:cubicBezTo>
                <a:cubicBezTo>
                  <a:pt x="3230154" y="1846194"/>
                  <a:pt x="3087888" y="1816549"/>
                  <a:pt x="2822051" y="1824272"/>
                </a:cubicBezTo>
                <a:cubicBezTo>
                  <a:pt x="2556214" y="1831996"/>
                  <a:pt x="2400766" y="1814550"/>
                  <a:pt x="2043554" y="1824272"/>
                </a:cubicBezTo>
                <a:cubicBezTo>
                  <a:pt x="1686342" y="1833994"/>
                  <a:pt x="1686720" y="1833031"/>
                  <a:pt x="1473583" y="1824272"/>
                </a:cubicBezTo>
                <a:cubicBezTo>
                  <a:pt x="1260446" y="1815513"/>
                  <a:pt x="1044165" y="1811990"/>
                  <a:pt x="736792" y="1824272"/>
                </a:cubicBezTo>
                <a:cubicBezTo>
                  <a:pt x="429419" y="1836554"/>
                  <a:pt x="262213" y="1804077"/>
                  <a:pt x="0" y="1824272"/>
                </a:cubicBezTo>
                <a:cubicBezTo>
                  <a:pt x="-3756" y="1553863"/>
                  <a:pt x="17951" y="1417625"/>
                  <a:pt x="0" y="1179696"/>
                </a:cubicBezTo>
                <a:cubicBezTo>
                  <a:pt x="-17951" y="941767"/>
                  <a:pt x="27051" y="734267"/>
                  <a:pt x="0" y="535120"/>
                </a:cubicBezTo>
                <a:cubicBezTo>
                  <a:pt x="-27051" y="335973"/>
                  <a:pt x="24859" y="166607"/>
                  <a:pt x="0" y="0"/>
                </a:cubicBezTo>
                <a:close/>
              </a:path>
              <a:path w="4170518" h="1824272" stroke="0" extrusionOk="0">
                <a:moveTo>
                  <a:pt x="0" y="0"/>
                </a:moveTo>
                <a:cubicBezTo>
                  <a:pt x="178633" y="-28030"/>
                  <a:pt x="454175" y="15193"/>
                  <a:pt x="611676" y="0"/>
                </a:cubicBezTo>
                <a:cubicBezTo>
                  <a:pt x="769177" y="-15193"/>
                  <a:pt x="1188022" y="-5740"/>
                  <a:pt x="1390173" y="0"/>
                </a:cubicBezTo>
                <a:cubicBezTo>
                  <a:pt x="1592324" y="5740"/>
                  <a:pt x="1735255" y="-13816"/>
                  <a:pt x="2001849" y="0"/>
                </a:cubicBezTo>
                <a:cubicBezTo>
                  <a:pt x="2268443" y="13816"/>
                  <a:pt x="2584087" y="-34937"/>
                  <a:pt x="2780345" y="0"/>
                </a:cubicBezTo>
                <a:cubicBezTo>
                  <a:pt x="2976603" y="34937"/>
                  <a:pt x="3262545" y="-30459"/>
                  <a:pt x="3433726" y="0"/>
                </a:cubicBezTo>
                <a:cubicBezTo>
                  <a:pt x="3604907" y="30459"/>
                  <a:pt x="3902047" y="-5289"/>
                  <a:pt x="4170518" y="0"/>
                </a:cubicBezTo>
                <a:cubicBezTo>
                  <a:pt x="4154976" y="216941"/>
                  <a:pt x="4153391" y="476083"/>
                  <a:pt x="4170518" y="608091"/>
                </a:cubicBezTo>
                <a:cubicBezTo>
                  <a:pt x="4187645" y="740099"/>
                  <a:pt x="4143046" y="1009989"/>
                  <a:pt x="4170518" y="1197939"/>
                </a:cubicBezTo>
                <a:cubicBezTo>
                  <a:pt x="4197990" y="1385889"/>
                  <a:pt x="4148295" y="1534544"/>
                  <a:pt x="4170518" y="1824272"/>
                </a:cubicBezTo>
                <a:cubicBezTo>
                  <a:pt x="3971884" y="1804750"/>
                  <a:pt x="3730914" y="1818708"/>
                  <a:pt x="3475432" y="1824272"/>
                </a:cubicBezTo>
                <a:cubicBezTo>
                  <a:pt x="3219950" y="1829836"/>
                  <a:pt x="2875539" y="1837244"/>
                  <a:pt x="2696935" y="1824272"/>
                </a:cubicBezTo>
                <a:cubicBezTo>
                  <a:pt x="2518331" y="1811300"/>
                  <a:pt x="2240507" y="1846416"/>
                  <a:pt x="2085259" y="1824272"/>
                </a:cubicBezTo>
                <a:cubicBezTo>
                  <a:pt x="1930011" y="1802128"/>
                  <a:pt x="1642073" y="1819393"/>
                  <a:pt x="1390173" y="1824272"/>
                </a:cubicBezTo>
                <a:cubicBezTo>
                  <a:pt x="1138273" y="1829151"/>
                  <a:pt x="921349" y="1833146"/>
                  <a:pt x="778497" y="1824272"/>
                </a:cubicBezTo>
                <a:cubicBezTo>
                  <a:pt x="635645" y="1815398"/>
                  <a:pt x="203416" y="1815363"/>
                  <a:pt x="0" y="1824272"/>
                </a:cubicBezTo>
                <a:cubicBezTo>
                  <a:pt x="5948" y="1681460"/>
                  <a:pt x="-27764" y="1491480"/>
                  <a:pt x="0" y="1216181"/>
                </a:cubicBezTo>
                <a:cubicBezTo>
                  <a:pt x="27764" y="940882"/>
                  <a:pt x="-7129" y="760432"/>
                  <a:pt x="0" y="644576"/>
                </a:cubicBezTo>
                <a:cubicBezTo>
                  <a:pt x="7129" y="528721"/>
                  <a:pt x="26522" y="31355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8425029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softEdge rad="127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PROFILE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NOODLES &amp;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486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NASDAQ: NDLS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985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UNAFFECTED SHARE PRICE (5/8/26)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1985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$71.0M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 EQUITY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433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COMPANY-OWNED 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74335"/>
            <a:ext cx="2651760" cy="6832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$105.6M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57600"/>
            <a:ext cx="26517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DEBT (ABSORBED)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375892"/>
            <a:ext cx="539496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MATURE CONCEPT  |  VALUABLE SUBURBAN REAL ESTATE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822960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Globally-inspired fast-casual noodle and pasta concept; long operating history but mature growth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Mix of company-owned (320) and franchised restaurants; company-owned base is the conversion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4016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Deteriorating unit economics in recent years; limited organic growth runway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80944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Strategically valuable real estate footprint in established suburban trade areas with proven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47872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Existing kitchen infrastructure and dining-room footprints fit CAVA's Mediterranean format with modest reconfiguration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Noodles &amp; Company 10-K, FY2025; Q1 2026 earnings release; team analysis</a:t>
            </a:r>
          </a:p>
        </p:txBody>
      </p:sp>
      <p:pic>
        <p:nvPicPr>
          <p:cNvPr id="1026" name="Picture 2" descr="Noodles And Company Logo PNG Transparent &amp; SVG Vector - Freebie Supply">
            <a:extLst>
              <a:ext uri="{FF2B5EF4-FFF2-40B4-BE49-F238E27FC236}">
                <a16:creationId xmlns:a16="http://schemas.microsoft.com/office/drawing/2014/main" id="{B007198D-BEC4-6949-47F8-63EF09BF7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60" y="4368269"/>
            <a:ext cx="3200400" cy="164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FAST-CASUAL RESTAURANT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 |  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529687"/>
              </p:ext>
            </p:extLst>
          </p:nvPr>
        </p:nvGraphicFramePr>
        <p:xfrm>
          <a:off x="365760" y="822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26280"/>
            <a:ext cx="59436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6.4% CAGR  |  $48.5B → $90.2B by 2035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822960"/>
            <a:ext cx="52120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Rising demand for fresh, healthy, plant-based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36192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Digital ordering, delivery, and contactless payment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83664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Urbanization and busy professional lifestyles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31136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Menu diversification and technology-enabled customer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52120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 FAST-CASUAL M&amp;A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RaceTrac → Potbelly (Sep 2025) </a:t>
            </a:r>
            <a:r>
              <a:rPr lang="en-US"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$550M EV, 19.0× 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38728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Darden → Chuy's (Jul 2024) </a:t>
            </a:r>
            <a:r>
              <a:rPr lang="en-US"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$622M EV, 10.6×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22776"/>
            <a:ext cx="5212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Jack in the Box → Del Taco (Dec 2021) </a:t>
            </a:r>
            <a:r>
              <a:rPr lang="en-US"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$585M 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11475720" cy="502920"/>
          </a:xfrm>
          <a:prstGeom prst="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5169860"/>
            <a:ext cx="11475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$48.5B U.S. fast-casual industry is growing at 6.4% CAGR, driven by fresh customizable meals and the convergence of convenience and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IBISWorld; William Blair Industry Research; Expert Market Research; team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6C299105-DE31-F780-A0A2-87541FDEE28B}"/>
              </a:ext>
            </a:extLst>
          </p:cNvPr>
          <p:cNvSpPr/>
          <p:nvPr/>
        </p:nvSpPr>
        <p:spPr>
          <a:xfrm>
            <a:off x="520700" y="712854"/>
            <a:ext cx="5331460" cy="2624704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9">
            <a:extLst>
              <a:ext uri="{FF2B5EF4-FFF2-40B4-BE49-F238E27FC236}">
                <a16:creationId xmlns:a16="http://schemas.microsoft.com/office/drawing/2014/main" id="{4D92E6E3-AAAE-23AE-7E6A-6B15B0884E8B}"/>
              </a:ext>
            </a:extLst>
          </p:cNvPr>
          <p:cNvSpPr/>
          <p:nvPr/>
        </p:nvSpPr>
        <p:spPr>
          <a:xfrm>
            <a:off x="411480" y="347472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9A7F093C-4C7D-D1AF-4FEE-BDA029A78116}"/>
              </a:ext>
            </a:extLst>
          </p:cNvPr>
          <p:cNvSpPr/>
          <p:nvPr/>
        </p:nvSpPr>
        <p:spPr>
          <a:xfrm>
            <a:off x="6095847" y="3474720"/>
            <a:ext cx="5440680" cy="24688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0A8E41ED-BFCC-837F-BA97-89263607809D}"/>
              </a:ext>
            </a:extLst>
          </p:cNvPr>
          <p:cNvSpPr/>
          <p:nvPr/>
        </p:nvSpPr>
        <p:spPr>
          <a:xfrm>
            <a:off x="6095846" y="701039"/>
            <a:ext cx="5415433" cy="2636519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RATIONALE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WHY NOODLES,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RATIONALE  |  8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005840"/>
            <a:ext cx="685800" cy="6858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43891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REPLICATE THE ZOË'S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1206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CAVA's prior Zoë's Kitchen conversion strategy in 2018 is the most direct precedent. Conversions were roughly half the cost of greenfield CAVA builds and ramped faster, validated by the CAVA S-1 (2023) and William Blair (2023).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1005840"/>
            <a:ext cx="685800" cy="6858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79" y="1051560"/>
            <a:ext cx="43891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ESTATE ARBITRAGE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320 company-owned NDLS sites sit in proven suburban trade areas with existing kitchen and dining-room infrastructure </a:t>
            </a:r>
            <a:r>
              <a:rPr lang="en-US"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ready-built locations that compress site-selection and construction timelines.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49039"/>
            <a:ext cx="685800" cy="6858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94760"/>
            <a:ext cx="43891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ACCELERATED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51206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approximately 5 years of additional unit growth on top of CAVA's existing greenfield pipeline, without straining construction capacity or real estate sourcing teams during a critical scale-up phase.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3749039"/>
            <a:ext cx="685800" cy="6858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794760"/>
            <a:ext cx="43891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12064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Deploys $393M of low-yield idle cash into ROIC-accretive restaurant assets. Cash on the balance sheet earns minimal interest; converted stores generate CAVA's unit-level returns.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CAVA S-1 (2023); William Blair (2023, 2025); RestaurantSpaces (2021); team strategic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 DCF VALUATION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23126"/>
            <a:ext cx="3657600" cy="867930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5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$57.42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91056"/>
            <a:ext cx="36576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INTRINSIC VALUE /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657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$79.40 Market </a:t>
            </a:r>
            <a:r>
              <a:rPr lang="en-US" sz="1200" b="1" i="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1" i="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28% OVERVALUED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822960"/>
            <a:ext cx="4114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DCF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914378"/>
              </p:ext>
            </p:extLst>
          </p:nvPr>
        </p:nvGraphicFramePr>
        <p:xfrm>
          <a:off x="4389120" y="11430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10.29%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Long-term Growth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2.45%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Forecast Horizon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15 years (2026–2040)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Terminal Method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Perpetuity + Exit Multiple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2834640"/>
            <a:ext cx="8046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5-YEAR FCF PROJECTION ($M)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945170"/>
              </p:ext>
            </p:extLst>
          </p:nvPr>
        </p:nvGraphicFramePr>
        <p:xfrm>
          <a:off x="365760" y="320040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EBIT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Tax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D&amp;A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CapEx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ΔNWC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FCF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2026E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1,454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(11)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(166)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(29)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(39)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2027E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1,780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(181)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(34)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(14)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2028E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2,123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(211)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(11)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2029E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2,449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(45)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(217)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(34)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2030E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2,884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(54)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(228)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(46)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0" y="2834640"/>
            <a:ext cx="3108960" cy="283464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23960" y="2944368"/>
            <a:ext cx="28346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91840"/>
            <a:ext cx="2743200" cy="5216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Capital efficiency: 2.57× asset turnover supports ROIC despite modest 7.4% profit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863339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No debt: zero interest-bearing debt; WACC equals cost of 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34840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Terminal ROIC of ~18.7% reflects mature-state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006340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Market premium: $79.40 implies sustained outperformance beyond explicit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CAVA 10-K FY2025; team DCF model; broker estimates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16AC5B5-C13C-604A-D304-592AE0D5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612648"/>
            <a:ext cx="3432441" cy="1824272"/>
          </a:xfrm>
          <a:custGeom>
            <a:avLst/>
            <a:gdLst>
              <a:gd name="csX0" fmla="*/ 0 w 3432441"/>
              <a:gd name="csY0" fmla="*/ 0 h 1824272"/>
              <a:gd name="csX1" fmla="*/ 617839 w 3432441"/>
              <a:gd name="csY1" fmla="*/ 0 h 1824272"/>
              <a:gd name="csX2" fmla="*/ 1372976 w 3432441"/>
              <a:gd name="csY2" fmla="*/ 0 h 1824272"/>
              <a:gd name="csX3" fmla="*/ 2025140 w 3432441"/>
              <a:gd name="csY3" fmla="*/ 0 h 1824272"/>
              <a:gd name="csX4" fmla="*/ 2745953 w 3432441"/>
              <a:gd name="csY4" fmla="*/ 0 h 1824272"/>
              <a:gd name="csX5" fmla="*/ 3432441 w 3432441"/>
              <a:gd name="csY5" fmla="*/ 0 h 1824272"/>
              <a:gd name="csX6" fmla="*/ 3432441 w 3432441"/>
              <a:gd name="csY6" fmla="*/ 608091 h 1824272"/>
              <a:gd name="csX7" fmla="*/ 3432441 w 3432441"/>
              <a:gd name="csY7" fmla="*/ 1234424 h 1824272"/>
              <a:gd name="csX8" fmla="*/ 3432441 w 3432441"/>
              <a:gd name="csY8" fmla="*/ 1824272 h 1824272"/>
              <a:gd name="csX9" fmla="*/ 2780277 w 3432441"/>
              <a:gd name="csY9" fmla="*/ 1824272 h 1824272"/>
              <a:gd name="csX10" fmla="*/ 2025140 w 3432441"/>
              <a:gd name="csY10" fmla="*/ 1824272 h 1824272"/>
              <a:gd name="csX11" fmla="*/ 1270003 w 3432441"/>
              <a:gd name="csY11" fmla="*/ 1824272 h 1824272"/>
              <a:gd name="csX12" fmla="*/ 0 w 3432441"/>
              <a:gd name="csY12" fmla="*/ 1824272 h 1824272"/>
              <a:gd name="csX13" fmla="*/ 0 w 3432441"/>
              <a:gd name="csY13" fmla="*/ 1270909 h 1824272"/>
              <a:gd name="csX14" fmla="*/ 0 w 3432441"/>
              <a:gd name="csY14" fmla="*/ 626333 h 1824272"/>
              <a:gd name="csX15" fmla="*/ 0 w 3432441"/>
              <a:gd name="csY15" fmla="*/ 0 h 1824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32441" h="1824272" fill="none" extrusionOk="0">
                <a:moveTo>
                  <a:pt x="0" y="0"/>
                </a:moveTo>
                <a:cubicBezTo>
                  <a:pt x="129591" y="-19471"/>
                  <a:pt x="462087" y="15718"/>
                  <a:pt x="617839" y="0"/>
                </a:cubicBezTo>
                <a:cubicBezTo>
                  <a:pt x="773591" y="-15718"/>
                  <a:pt x="1125514" y="-5861"/>
                  <a:pt x="1372976" y="0"/>
                </a:cubicBezTo>
                <a:cubicBezTo>
                  <a:pt x="1620438" y="5861"/>
                  <a:pt x="1868407" y="5962"/>
                  <a:pt x="2025140" y="0"/>
                </a:cubicBezTo>
                <a:cubicBezTo>
                  <a:pt x="2181873" y="-5962"/>
                  <a:pt x="2485700" y="25455"/>
                  <a:pt x="2745953" y="0"/>
                </a:cubicBezTo>
                <a:cubicBezTo>
                  <a:pt x="3006206" y="-25455"/>
                  <a:pt x="3272462" y="-26307"/>
                  <a:pt x="3432441" y="0"/>
                </a:cubicBezTo>
                <a:cubicBezTo>
                  <a:pt x="3462156" y="152934"/>
                  <a:pt x="3420202" y="484186"/>
                  <a:pt x="3432441" y="608091"/>
                </a:cubicBezTo>
                <a:cubicBezTo>
                  <a:pt x="3444680" y="731996"/>
                  <a:pt x="3455871" y="1033761"/>
                  <a:pt x="3432441" y="1234424"/>
                </a:cubicBezTo>
                <a:cubicBezTo>
                  <a:pt x="3409011" y="1435087"/>
                  <a:pt x="3418787" y="1585995"/>
                  <a:pt x="3432441" y="1824272"/>
                </a:cubicBezTo>
                <a:cubicBezTo>
                  <a:pt x="3146647" y="1798968"/>
                  <a:pt x="3013102" y="1808623"/>
                  <a:pt x="2780277" y="1824272"/>
                </a:cubicBezTo>
                <a:cubicBezTo>
                  <a:pt x="2547452" y="1839921"/>
                  <a:pt x="2192728" y="1823504"/>
                  <a:pt x="2025140" y="1824272"/>
                </a:cubicBezTo>
                <a:cubicBezTo>
                  <a:pt x="1857552" y="1825040"/>
                  <a:pt x="1447031" y="1835522"/>
                  <a:pt x="1270003" y="1824272"/>
                </a:cubicBezTo>
                <a:cubicBezTo>
                  <a:pt x="1092975" y="1813022"/>
                  <a:pt x="362182" y="1827251"/>
                  <a:pt x="0" y="1824272"/>
                </a:cubicBezTo>
                <a:cubicBezTo>
                  <a:pt x="-25709" y="1561517"/>
                  <a:pt x="236" y="1466089"/>
                  <a:pt x="0" y="1270909"/>
                </a:cubicBezTo>
                <a:cubicBezTo>
                  <a:pt x="-236" y="1075729"/>
                  <a:pt x="2646" y="790588"/>
                  <a:pt x="0" y="626333"/>
                </a:cubicBezTo>
                <a:cubicBezTo>
                  <a:pt x="-2646" y="462078"/>
                  <a:pt x="-25609" y="138887"/>
                  <a:pt x="0" y="0"/>
                </a:cubicBezTo>
                <a:close/>
              </a:path>
              <a:path w="3432441" h="1824272" stroke="0" extrusionOk="0">
                <a:moveTo>
                  <a:pt x="0" y="0"/>
                </a:moveTo>
                <a:cubicBezTo>
                  <a:pt x="189144" y="-19272"/>
                  <a:pt x="367669" y="-3656"/>
                  <a:pt x="617839" y="0"/>
                </a:cubicBezTo>
                <a:cubicBezTo>
                  <a:pt x="868009" y="3656"/>
                  <a:pt x="1171457" y="-11384"/>
                  <a:pt x="1372976" y="0"/>
                </a:cubicBezTo>
                <a:cubicBezTo>
                  <a:pt x="1574495" y="11384"/>
                  <a:pt x="1787018" y="-21903"/>
                  <a:pt x="1990816" y="0"/>
                </a:cubicBezTo>
                <a:cubicBezTo>
                  <a:pt x="2194614" y="21903"/>
                  <a:pt x="2468323" y="23129"/>
                  <a:pt x="2745953" y="0"/>
                </a:cubicBezTo>
                <a:cubicBezTo>
                  <a:pt x="3023583" y="-23129"/>
                  <a:pt x="3262413" y="21198"/>
                  <a:pt x="3432441" y="0"/>
                </a:cubicBezTo>
                <a:cubicBezTo>
                  <a:pt x="3428725" y="238761"/>
                  <a:pt x="3423057" y="441792"/>
                  <a:pt x="3432441" y="589848"/>
                </a:cubicBezTo>
                <a:cubicBezTo>
                  <a:pt x="3441825" y="737904"/>
                  <a:pt x="3415314" y="1065931"/>
                  <a:pt x="3432441" y="1197939"/>
                </a:cubicBezTo>
                <a:cubicBezTo>
                  <a:pt x="3449568" y="1329947"/>
                  <a:pt x="3402206" y="1551385"/>
                  <a:pt x="3432441" y="1824272"/>
                </a:cubicBezTo>
                <a:cubicBezTo>
                  <a:pt x="3183081" y="1826759"/>
                  <a:pt x="3040441" y="1819164"/>
                  <a:pt x="2814602" y="1824272"/>
                </a:cubicBezTo>
                <a:cubicBezTo>
                  <a:pt x="2588763" y="1829380"/>
                  <a:pt x="2469911" y="1802154"/>
                  <a:pt x="2128113" y="1824272"/>
                </a:cubicBezTo>
                <a:cubicBezTo>
                  <a:pt x="1786315" y="1846390"/>
                  <a:pt x="1610373" y="1788841"/>
                  <a:pt x="1372976" y="1824272"/>
                </a:cubicBezTo>
                <a:cubicBezTo>
                  <a:pt x="1135579" y="1859703"/>
                  <a:pt x="906427" y="1831652"/>
                  <a:pt x="755137" y="1824272"/>
                </a:cubicBezTo>
                <a:cubicBezTo>
                  <a:pt x="603847" y="1816892"/>
                  <a:pt x="356113" y="1860260"/>
                  <a:pt x="0" y="1824272"/>
                </a:cubicBezTo>
                <a:cubicBezTo>
                  <a:pt x="-13518" y="1554160"/>
                  <a:pt x="18991" y="1446841"/>
                  <a:pt x="0" y="1252667"/>
                </a:cubicBezTo>
                <a:cubicBezTo>
                  <a:pt x="-18991" y="1058493"/>
                  <a:pt x="8631" y="943787"/>
                  <a:pt x="0" y="644576"/>
                </a:cubicBezTo>
                <a:cubicBezTo>
                  <a:pt x="-8631" y="345365"/>
                  <a:pt x="31735" y="18374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8425029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 DCF VALUATION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NOODLES &amp;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23126"/>
            <a:ext cx="3657600" cy="867930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5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$11.23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91056"/>
            <a:ext cx="36576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INTRINSIC VALUE /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657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$12.05 Market — 7% OVERVALUED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822960"/>
            <a:ext cx="4114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DCF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85627"/>
              </p:ext>
            </p:extLst>
          </p:nvPr>
        </p:nvGraphicFramePr>
        <p:xfrm>
          <a:off x="4389120" y="11430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8.01%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Long-term Growth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2.45%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Forecast Horizon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10 years (2026–2035)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Terminal Method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Perpetuity Growth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2834640"/>
            <a:ext cx="8046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5-YEAR FCF PROJECTION ($M)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567444"/>
              </p:ext>
            </p:extLst>
          </p:nvPr>
        </p:nvGraphicFramePr>
        <p:xfrm>
          <a:off x="365760" y="320040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EBIT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Tax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D&amp;A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CapEx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ΔNWC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FCF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2026E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(22)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2027E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(7)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(23)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2028E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518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(24)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2029E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534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(9)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(24)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2030E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(9)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(25)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0" y="2834640"/>
            <a:ext cx="3108960" cy="283464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23960" y="2944368"/>
            <a:ext cx="28346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91840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Mature concept with limited organic revenue growth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863339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Deteriorating unit economics; ROI declining since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34840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Stable but compressed cash flow with negligible reinvestment 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006340"/>
            <a:ext cx="274320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Standalone value supports a strategic sale; trade area real estate is the true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Noodles &amp; Company 10-K FY2025; team DCF model</a:t>
            </a:r>
          </a:p>
        </p:txBody>
      </p:sp>
      <p:pic>
        <p:nvPicPr>
          <p:cNvPr id="19" name="Picture 2" descr="Noodles And Company Logo PNG Transparent &amp; SVG Vector - Freebie Supply">
            <a:extLst>
              <a:ext uri="{FF2B5EF4-FFF2-40B4-BE49-F238E27FC236}">
                <a16:creationId xmlns:a16="http://schemas.microsoft.com/office/drawing/2014/main" id="{5DE70E05-A7D4-E0A3-92DB-4231D20B7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681876"/>
            <a:ext cx="3200400" cy="164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COMPARABLE COMPANIES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TRADING MULTIPLES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COMPS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78190"/>
            <a:ext cx="11521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555555"/>
                </a:solidFill>
                <a:latin typeface="Calibri"/>
              </a:rPr>
              <a:t>U.S. fast-casual and growth restaurant operators trading at premium multiples reflecting growth profiles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6338"/>
              </p:ext>
            </p:extLst>
          </p:nvPr>
        </p:nvGraphicFramePr>
        <p:xfrm>
          <a:off x="352978" y="798718"/>
          <a:ext cx="11521440" cy="404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9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Company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Ticker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Equity Value ($M)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 ($M)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EV/Rev (LTM)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EV/EBITDA (LTM)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EV/EBITDA (NFY)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P/E (LTM)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13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Chipotle Mexican Grill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$35.08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45,689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44,443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3.73×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19.12×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19.14×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29.36×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567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CAVA Group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CAVA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$93.63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11,044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10,646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9.02×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79.03×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58.10×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162.27×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79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Dutch Bros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$52.43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8,627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5.36×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37.22×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24.01×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102.77×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Wingstop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$163.78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4,502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5,515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7.91×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36.63×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19.75×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33.62×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7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Shake Shack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$90.87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3,879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3,795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2.63×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19.40×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16.83×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59.13×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8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Portillo's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PTLO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$5.40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1.03×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8.55×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7.82×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35.99×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290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4.54×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28.02×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19.45×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47.56×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69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4.95×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33.32×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24.28×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70.52×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698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Noodles &amp; Co.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NDLS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$12.05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178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0.37×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9.81×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5.06×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n/m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94257" y="5144729"/>
            <a:ext cx="11431677" cy="13716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441" y="5230368"/>
            <a:ext cx="7619976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IMPLIED VALUATION RANGE FOR NDLS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60" y="5577840"/>
            <a:ext cx="755802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•  At median EV/EBITDA of 28.02× (LTM) applied to NDLS adj. EBITDA: implied EV $510M </a:t>
            </a:r>
            <a:r>
              <a:rPr lang="en-US" sz="11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Calibri"/>
              </a:rPr>
              <a:t> wildly above current $178M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60" y="5852160"/>
            <a:ext cx="755802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•  More realistic: applying 25th-percentile multiple (16.48× LTM) yields implied EV ~$300M → ~$33/share </a:t>
            </a:r>
            <a:r>
              <a:rPr lang="en-US" sz="11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Calibri"/>
              </a:rPr>
              <a:t> supports premium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" y="6126479"/>
            <a:ext cx="755802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•  NDLS trades at 9.8× LTM EBITDA, deep discount to peer median </a:t>
            </a:r>
            <a:r>
              <a:rPr lang="en-US" sz="11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Calibri"/>
              </a:rPr>
              <a:t> reflects mature growth profile and execution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Source: Team Comparable Company Analysis (CapIQ data, May 2026); all multiples NTM where indicated</a:t>
            </a:r>
          </a:p>
        </p:txBody>
      </p:sp>
      <p:pic>
        <p:nvPicPr>
          <p:cNvPr id="3076" name="Picture 4" descr="Chipotle Logo Decal Sticker ...">
            <a:extLst>
              <a:ext uri="{FF2B5EF4-FFF2-40B4-BE49-F238E27FC236}">
                <a16:creationId xmlns:a16="http://schemas.microsoft.com/office/drawing/2014/main" id="{BD642DDD-6B30-B90C-19DD-6F8B7A1C7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10" y="1152098"/>
            <a:ext cx="390525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ava Logo and symbol, meaning, history ...">
            <a:extLst>
              <a:ext uri="{FF2B5EF4-FFF2-40B4-BE49-F238E27FC236}">
                <a16:creationId xmlns:a16="http://schemas.microsoft.com/office/drawing/2014/main" id="{1C4FFD71-3989-9FEF-8C20-CB175DBEA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864" y="1733392"/>
            <a:ext cx="305526" cy="17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utch Bros. Coffee Logo Brand Product ...">
            <a:extLst>
              <a:ext uri="{FF2B5EF4-FFF2-40B4-BE49-F238E27FC236}">
                <a16:creationId xmlns:a16="http://schemas.microsoft.com/office/drawing/2014/main" id="{EE5A50FF-361E-D832-3C25-E521C859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865" y="2149535"/>
            <a:ext cx="390525" cy="24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Wingstop pour les fans ...">
            <a:extLst>
              <a:ext uri="{FF2B5EF4-FFF2-40B4-BE49-F238E27FC236}">
                <a16:creationId xmlns:a16="http://schemas.microsoft.com/office/drawing/2014/main" id="{5A5CFF0B-7A18-C67E-2BD9-B11AAD8D0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866" y="2476279"/>
            <a:ext cx="390524" cy="37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Amazon.com: Shake Shack Sticker ...">
            <a:extLst>
              <a:ext uri="{FF2B5EF4-FFF2-40B4-BE49-F238E27FC236}">
                <a16:creationId xmlns:a16="http://schemas.microsoft.com/office/drawing/2014/main" id="{46931410-6666-A609-5DB9-2DDAAA1B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10" y="2942059"/>
            <a:ext cx="291466" cy="38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&quot;Portillo's hot dogs&quot; Sticker for Sale ...">
            <a:extLst>
              <a:ext uri="{FF2B5EF4-FFF2-40B4-BE49-F238E27FC236}">
                <a16:creationId xmlns:a16="http://schemas.microsoft.com/office/drawing/2014/main" id="{B109A692-6F64-7DCD-A750-ECA285998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864" y="3462666"/>
            <a:ext cx="256222" cy="25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Rial"/>
              </a:rPr>
              <a:t>PRECEDENT TRANSACTIONS </a:t>
            </a:r>
            <a:r>
              <a:rPr lang="en-US" sz="2200" b="1" i="0" dirty="0">
                <a:solidFill>
                  <a:srgbClr val="FFFFFF"/>
                </a:solidFill>
                <a:latin typeface="Rial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Rial"/>
              </a:rPr>
              <a:t> FAST-CASUAL M&amp;A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Rial"/>
              </a:rPr>
              <a:t>PRECEDENTS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5214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Rial"/>
              </a:rPr>
              <a:t>Strategic and financial transactions in fast-casual / casual dining benchmark this deal's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126" y="1940892"/>
            <a:ext cx="2148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0" i="0" dirty="0">
                <a:solidFill>
                  <a:srgbClr val="555555"/>
                </a:solidFill>
                <a:latin typeface="Rial"/>
              </a:rPr>
              <a:t>has acquired</a:t>
            </a:r>
            <a:endParaRPr sz="1400" b="0" i="0" dirty="0">
              <a:solidFill>
                <a:srgbClr val="555555"/>
              </a:solidFill>
              <a:latin typeface="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5417" y="1981841"/>
            <a:ext cx="2148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dirty="0">
                <a:solidFill>
                  <a:srgbClr val="555555"/>
                </a:solidFill>
                <a:latin typeface="Rial"/>
              </a:rPr>
              <a:t>h</a:t>
            </a:r>
            <a:r>
              <a:rPr lang="en-US" sz="1400" b="0" i="0" dirty="0">
                <a:solidFill>
                  <a:srgbClr val="555555"/>
                </a:solidFill>
                <a:latin typeface="Rial"/>
              </a:rPr>
              <a:t>as acquired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75707" y="1280159"/>
            <a:ext cx="2240280" cy="296294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C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76013" y="3215315"/>
            <a:ext cx="21488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Aug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6013" y="3431209"/>
            <a:ext cx="21488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EV: $285M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6013" y="3659809"/>
            <a:ext cx="21488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EV/EBITDA: 17.4×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6013" y="3888409"/>
            <a:ext cx="21488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E2761"/>
                </a:solidFill>
                <a:latin typeface="Rial"/>
                <a:cs typeface="Arial" panose="020B0604020202020204" pitchFamily="34" charset="0"/>
              </a:rPr>
              <a:t>1-Day Prem: 33%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495" y="4352835"/>
            <a:ext cx="11521440" cy="13716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4453128"/>
            <a:ext cx="11247119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E2761"/>
                </a:solidFill>
                <a:latin typeface="Rial"/>
              </a:rPr>
              <a:t>KEY TAKEAWAY </a:t>
            </a:r>
            <a:r>
              <a:rPr lang="en-US" sz="1200" b="1" i="0" dirty="0">
                <a:solidFill>
                  <a:srgbClr val="1E2761"/>
                </a:solidFill>
                <a:latin typeface="Rial"/>
              </a:rPr>
              <a:t>-</a:t>
            </a:r>
            <a:r>
              <a:rPr sz="1200" b="1" i="0" dirty="0">
                <a:solidFill>
                  <a:srgbClr val="1E2761"/>
                </a:solidFill>
                <a:latin typeface="Rial"/>
              </a:rPr>
              <a:t> CAVA → ZOË'S KITCHEN IS THE DIRECT ANALOG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800600"/>
            <a:ext cx="11155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•  Median fast-casual / casual dining premium of ~33% (1-day); proposed 36% NDLS premium sits right at median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074920"/>
            <a:ext cx="11155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•  Median EV/EBITDA of 14.2× </a:t>
            </a:r>
            <a:r>
              <a:rPr lang="en-US" sz="1000" b="0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 proposed 11.4× implied multiple on NDLS adj. EBITDA below median, reflecting takeout discipline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349240"/>
            <a:ext cx="11155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•  CAVA's own 2018 Zoë's deal at $285M and 17.4× EBITDA is the strongest evidence of conversion-play success in this sector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71328"/>
              </p:ext>
            </p:extLst>
          </p:nvPr>
        </p:nvGraphicFramePr>
        <p:xfrm>
          <a:off x="335127" y="5834163"/>
          <a:ext cx="1152144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EV/Revenue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EV/EBIT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1-Day Premium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7-Day Premium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1.14×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14.19×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19.08×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Rial"/>
              </a:rPr>
              <a:t>Source: Team Precedent Transaction Analysis (CapIQ data); ★ CAVA-Zoë's deal — most relevant comparable for conversion-play strategy</a:t>
            </a:r>
          </a:p>
        </p:txBody>
      </p:sp>
      <p:pic>
        <p:nvPicPr>
          <p:cNvPr id="53" name="Picture 52" descr="A logo for a sandwich shop&#10;&#10;AI-generated content may be incorrect.">
            <a:extLst>
              <a:ext uri="{FF2B5EF4-FFF2-40B4-BE49-F238E27FC236}">
                <a16:creationId xmlns:a16="http://schemas.microsoft.com/office/drawing/2014/main" id="{95667C42-DD10-6A3D-BA21-F8512F20C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1" y="2075397"/>
            <a:ext cx="2747031" cy="1130861"/>
          </a:xfrm>
          <a:prstGeom prst="rect">
            <a:avLst/>
          </a:prstGeom>
        </p:spPr>
      </p:pic>
      <p:pic>
        <p:nvPicPr>
          <p:cNvPr id="54" name="Picture 53" descr="A red and blue logo&#10;&#10;AI-generated content may be incorrect.">
            <a:extLst>
              <a:ext uri="{FF2B5EF4-FFF2-40B4-BE49-F238E27FC236}">
                <a16:creationId xmlns:a16="http://schemas.microsoft.com/office/drawing/2014/main" id="{B77613BE-B5D3-376D-29D0-581667738D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01644"/>
            <a:ext cx="1989399" cy="454369"/>
          </a:xfrm>
          <a:prstGeom prst="rect">
            <a:avLst/>
          </a:prstGeom>
        </p:spPr>
      </p:pic>
      <p:pic>
        <p:nvPicPr>
          <p:cNvPr id="63" name="Picture 62" descr="A black and red logo&#10;&#10;AI-generated content may be incorrect.">
            <a:extLst>
              <a:ext uri="{FF2B5EF4-FFF2-40B4-BE49-F238E27FC236}">
                <a16:creationId xmlns:a16="http://schemas.microsoft.com/office/drawing/2014/main" id="{89DEFBF6-0D0A-D5A3-CE2D-141052D420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27" y="1167172"/>
            <a:ext cx="2072855" cy="1091981"/>
          </a:xfrm>
          <a:prstGeom prst="rect">
            <a:avLst/>
          </a:prstGeom>
        </p:spPr>
      </p:pic>
      <p:pic>
        <p:nvPicPr>
          <p:cNvPr id="64" name="Picture 63" descr="A red and black logo&#10;&#10;AI-generated content may be incorrect.">
            <a:extLst>
              <a:ext uri="{FF2B5EF4-FFF2-40B4-BE49-F238E27FC236}">
                <a16:creationId xmlns:a16="http://schemas.microsoft.com/office/drawing/2014/main" id="{07B89AF8-5D95-9C37-E240-BF44EFFC31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957" y="2309591"/>
            <a:ext cx="1542163" cy="796861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51EE5DE2-CDEC-3598-50A5-B9EF71936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0058" y="1298448"/>
            <a:ext cx="957580" cy="739288"/>
          </a:xfrm>
          <a:prstGeom prst="rect">
            <a:avLst/>
          </a:prstGeom>
        </p:spPr>
      </p:pic>
      <p:pic>
        <p:nvPicPr>
          <p:cNvPr id="67" name="Picture 66" descr="A logo with a sun and green and red text&#10;&#10;AI-generated content may be incorrect.">
            <a:extLst>
              <a:ext uri="{FF2B5EF4-FFF2-40B4-BE49-F238E27FC236}">
                <a16:creationId xmlns:a16="http://schemas.microsoft.com/office/drawing/2014/main" id="{FEC2686A-68FD-FC3F-49FA-22E9DEA041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027" y="2477649"/>
            <a:ext cx="1320812" cy="6635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F017756-C80F-8B39-E8BD-4551053994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96329" y="1349292"/>
            <a:ext cx="835087" cy="600409"/>
          </a:xfrm>
          <a:prstGeom prst="rect">
            <a:avLst/>
          </a:prstGeom>
        </p:spPr>
      </p:pic>
      <p:pic>
        <p:nvPicPr>
          <p:cNvPr id="69" name="Picture 68" descr="A logo for a bread company&#10;&#10;AI-generated content may be incorrect.">
            <a:extLst>
              <a:ext uri="{FF2B5EF4-FFF2-40B4-BE49-F238E27FC236}">
                <a16:creationId xmlns:a16="http://schemas.microsoft.com/office/drawing/2014/main" id="{21E5E94C-EDD2-F16A-9DF7-D0B5180950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986" y="2373171"/>
            <a:ext cx="1307774" cy="735623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7CBD09DC-F492-183D-B728-92F298A1B554}"/>
              </a:ext>
            </a:extLst>
          </p:cNvPr>
          <p:cNvSpPr txBox="1"/>
          <p:nvPr/>
        </p:nvSpPr>
        <p:spPr>
          <a:xfrm>
            <a:off x="7339009" y="2083455"/>
            <a:ext cx="2148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0" i="0" dirty="0">
                <a:solidFill>
                  <a:srgbClr val="555555"/>
                </a:solidFill>
                <a:latin typeface="Rial"/>
              </a:rPr>
              <a:t>has acquired</a:t>
            </a:r>
            <a:endParaRPr sz="1400" b="0" i="0" dirty="0">
              <a:solidFill>
                <a:srgbClr val="555555"/>
              </a:solidFill>
              <a:latin typeface="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FD591B-8F37-2C32-1B2C-5BC20935B6D8}"/>
              </a:ext>
            </a:extLst>
          </p:cNvPr>
          <p:cNvSpPr txBox="1"/>
          <p:nvPr/>
        </p:nvSpPr>
        <p:spPr>
          <a:xfrm>
            <a:off x="9685818" y="2057610"/>
            <a:ext cx="2148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dirty="0">
                <a:solidFill>
                  <a:srgbClr val="555555"/>
                </a:solidFill>
                <a:latin typeface="Rial"/>
              </a:rPr>
              <a:t>h</a:t>
            </a:r>
            <a:r>
              <a:rPr lang="en-US" sz="1400" b="0" i="0" dirty="0">
                <a:solidFill>
                  <a:srgbClr val="555555"/>
                </a:solidFill>
                <a:latin typeface="Rial"/>
              </a:rPr>
              <a:t>as acquired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23572B83-E947-A4BA-B008-A56D905F81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1321" y="1316656"/>
            <a:ext cx="1347019" cy="589214"/>
          </a:xfrm>
          <a:custGeom>
            <a:avLst/>
            <a:gdLst>
              <a:gd name="csX0" fmla="*/ 0 w 1347019"/>
              <a:gd name="csY0" fmla="*/ 0 h 589214"/>
              <a:gd name="csX1" fmla="*/ 633099 w 1347019"/>
              <a:gd name="csY1" fmla="*/ 0 h 589214"/>
              <a:gd name="csX2" fmla="*/ 1347019 w 1347019"/>
              <a:gd name="csY2" fmla="*/ 0 h 589214"/>
              <a:gd name="csX3" fmla="*/ 1347019 w 1347019"/>
              <a:gd name="csY3" fmla="*/ 589214 h 589214"/>
              <a:gd name="csX4" fmla="*/ 700450 w 1347019"/>
              <a:gd name="csY4" fmla="*/ 589214 h 589214"/>
              <a:gd name="csX5" fmla="*/ 0 w 1347019"/>
              <a:gd name="csY5" fmla="*/ 589214 h 589214"/>
              <a:gd name="csX6" fmla="*/ 0 w 1347019"/>
              <a:gd name="csY6" fmla="*/ 0 h 589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7019" h="589214" fill="none" extrusionOk="0">
                <a:moveTo>
                  <a:pt x="0" y="0"/>
                </a:moveTo>
                <a:cubicBezTo>
                  <a:pt x="175885" y="15779"/>
                  <a:pt x="454779" y="12408"/>
                  <a:pt x="633099" y="0"/>
                </a:cubicBezTo>
                <a:cubicBezTo>
                  <a:pt x="811419" y="-12408"/>
                  <a:pt x="1172389" y="8811"/>
                  <a:pt x="1347019" y="0"/>
                </a:cubicBezTo>
                <a:cubicBezTo>
                  <a:pt x="1347290" y="252958"/>
                  <a:pt x="1343735" y="465099"/>
                  <a:pt x="1347019" y="589214"/>
                </a:cubicBezTo>
                <a:cubicBezTo>
                  <a:pt x="1115745" y="602632"/>
                  <a:pt x="960502" y="567101"/>
                  <a:pt x="700450" y="589214"/>
                </a:cubicBezTo>
                <a:cubicBezTo>
                  <a:pt x="440398" y="611327"/>
                  <a:pt x="185242" y="620813"/>
                  <a:pt x="0" y="589214"/>
                </a:cubicBezTo>
                <a:cubicBezTo>
                  <a:pt x="6929" y="400227"/>
                  <a:pt x="8668" y="252060"/>
                  <a:pt x="0" y="0"/>
                </a:cubicBezTo>
                <a:close/>
              </a:path>
              <a:path w="1347019" h="589214" stroke="0" extrusionOk="0">
                <a:moveTo>
                  <a:pt x="0" y="0"/>
                </a:moveTo>
                <a:cubicBezTo>
                  <a:pt x="135640" y="21158"/>
                  <a:pt x="352177" y="12292"/>
                  <a:pt x="646569" y="0"/>
                </a:cubicBezTo>
                <a:cubicBezTo>
                  <a:pt x="940961" y="-12292"/>
                  <a:pt x="1194318" y="-30356"/>
                  <a:pt x="1347019" y="0"/>
                </a:cubicBezTo>
                <a:cubicBezTo>
                  <a:pt x="1347530" y="146510"/>
                  <a:pt x="1366096" y="360784"/>
                  <a:pt x="1347019" y="589214"/>
                </a:cubicBezTo>
                <a:cubicBezTo>
                  <a:pt x="1105609" y="562689"/>
                  <a:pt x="799024" y="602837"/>
                  <a:pt x="646569" y="589214"/>
                </a:cubicBezTo>
                <a:cubicBezTo>
                  <a:pt x="494114" y="575592"/>
                  <a:pt x="198868" y="558436"/>
                  <a:pt x="0" y="589214"/>
                </a:cubicBezTo>
                <a:cubicBezTo>
                  <a:pt x="-9635" y="428270"/>
                  <a:pt x="-5071" y="203137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58425029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</p:pic>
      <p:pic>
        <p:nvPicPr>
          <p:cNvPr id="2050" name="Picture 2" descr="Zoe's Kitchen in Mountain Brook closes: 1 left in Birmingham area - al.com">
            <a:extLst>
              <a:ext uri="{FF2B5EF4-FFF2-40B4-BE49-F238E27FC236}">
                <a16:creationId xmlns:a16="http://schemas.microsoft.com/office/drawing/2014/main" id="{9EE20934-C6BB-325F-9E8A-0E0A0A4A6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696" y="2389411"/>
            <a:ext cx="956954" cy="76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9F2202C2-6511-6CA5-E42F-0729B3A6B1CD}"/>
              </a:ext>
            </a:extLst>
          </p:cNvPr>
          <p:cNvSpPr txBox="1"/>
          <p:nvPr/>
        </p:nvSpPr>
        <p:spPr>
          <a:xfrm>
            <a:off x="5006339" y="2021452"/>
            <a:ext cx="2148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0" i="0" dirty="0">
                <a:solidFill>
                  <a:srgbClr val="555555"/>
                </a:solidFill>
                <a:latin typeface="Rial"/>
              </a:rPr>
              <a:t>has acquired</a:t>
            </a:r>
            <a:endParaRPr sz="1400" b="0" i="0" dirty="0">
              <a:solidFill>
                <a:srgbClr val="555555"/>
              </a:solidFill>
              <a:latin typeface="Rial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43AB33-3F0A-1ABB-09E2-0244F2B12485}"/>
              </a:ext>
            </a:extLst>
          </p:cNvPr>
          <p:cNvSpPr/>
          <p:nvPr/>
        </p:nvSpPr>
        <p:spPr>
          <a:xfrm>
            <a:off x="403707" y="3156890"/>
            <a:ext cx="2080260" cy="989915"/>
          </a:xfrm>
          <a:prstGeom prst="rect">
            <a:avLst/>
          </a:prstGeom>
          <a:solidFill>
            <a:srgbClr val="FFE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50" dirty="0">
              <a:latin typeface="Rial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35127" y="34610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EV: $550M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5127" y="36896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EV/EBITDA: 19.0×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127" y="39182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1E2761"/>
                </a:solidFill>
                <a:latin typeface="Rial"/>
                <a:cs typeface="Arial" panose="020B0604020202020204" pitchFamily="34" charset="0"/>
              </a:rPr>
              <a:t>1-Day Prem: 32%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362AE46-DBEA-ACD2-C97E-71C88B00F4E1}"/>
              </a:ext>
            </a:extLst>
          </p:cNvPr>
          <p:cNvSpPr/>
          <p:nvPr/>
        </p:nvSpPr>
        <p:spPr>
          <a:xfrm>
            <a:off x="2689707" y="3168395"/>
            <a:ext cx="2080260" cy="1004059"/>
          </a:xfrm>
          <a:prstGeom prst="rect">
            <a:avLst/>
          </a:prstGeom>
          <a:solidFill>
            <a:srgbClr val="FFE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50">
              <a:latin typeface="Rial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656739" y="34610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EV: $622M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56739" y="36896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EV/EBITDA: 10.6×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56739" y="3918205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1E2761"/>
                </a:solidFill>
                <a:latin typeface="Rial"/>
                <a:cs typeface="Arial" panose="020B0604020202020204" pitchFamily="34" charset="0"/>
              </a:rPr>
              <a:t>1-Day Prem: 48%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5019" y="3236977"/>
            <a:ext cx="21488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Sep 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34354" y="3234984"/>
            <a:ext cx="21488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Jul 2024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1D1BFFF-265E-5DD3-83A9-BADA5B96EF1F}"/>
              </a:ext>
            </a:extLst>
          </p:cNvPr>
          <p:cNvSpPr/>
          <p:nvPr/>
        </p:nvSpPr>
        <p:spPr>
          <a:xfrm>
            <a:off x="7512434" y="3190145"/>
            <a:ext cx="2080260" cy="1004059"/>
          </a:xfrm>
          <a:prstGeom prst="rect">
            <a:avLst/>
          </a:prstGeom>
          <a:solidFill>
            <a:srgbClr val="FFE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50">
              <a:latin typeface="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D345B9-B990-B28D-C87F-09FB491AD399}"/>
              </a:ext>
            </a:extLst>
          </p:cNvPr>
          <p:cNvSpPr/>
          <p:nvPr/>
        </p:nvSpPr>
        <p:spPr>
          <a:xfrm>
            <a:off x="9813182" y="3187575"/>
            <a:ext cx="2080260" cy="1004059"/>
          </a:xfrm>
          <a:prstGeom prst="rect">
            <a:avLst/>
          </a:prstGeom>
          <a:solidFill>
            <a:srgbClr val="FFE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50">
              <a:latin typeface="Rial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443854" y="3267673"/>
            <a:ext cx="21488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Dec 2020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43854" y="3502900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EV: $7,490M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43854" y="3731500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EV/EBITDA: 18.1×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43854" y="3960100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1E2761"/>
                </a:solidFill>
                <a:latin typeface="Rial"/>
                <a:cs typeface="Arial" panose="020B0604020202020204" pitchFamily="34" charset="0"/>
              </a:rPr>
              <a:t>1-Day Prem: n/a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44602" y="3242852"/>
            <a:ext cx="21488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Dec 2021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44602" y="3517171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EV: $585M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44602" y="3745771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Rial"/>
                <a:cs typeface="Arial" panose="020B0604020202020204" pitchFamily="34" charset="0"/>
              </a:rPr>
              <a:t>EV/EBITDA: 10.96×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44602" y="3974371"/>
            <a:ext cx="2148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1E2761"/>
                </a:solidFill>
                <a:latin typeface="Rial"/>
                <a:cs typeface="Arial" panose="020B0604020202020204" pitchFamily="34" charset="0"/>
              </a:rPr>
              <a:t>1-Day Prem: 66%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FOOTBALL FIELD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NOODLES &amp;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5"/>
            <a:ext cx="115214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i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Per-share valuation ranges from multiple methodologies; implied offer of $16.39 sits firmly in precedent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80160"/>
            <a:ext cx="7772400" cy="3657600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7782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8125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8468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4228" y="1280160"/>
            <a:ext cx="0" cy="36576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8811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9154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9497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983480"/>
            <a:ext cx="731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2508" y="1481328"/>
            <a:ext cx="3719648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1582702"/>
            <a:ext cx="1343405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 i="0">
                <a:latin typeface="Arial" panose="020B0604020202020204" pitchFamily="34" charset="0"/>
                <a:cs typeface="Arial" panose="020B0604020202020204" pitchFamily="34" charset="0"/>
              </a:rPr>
              <a:t>52-Week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5308" y="155820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0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877" y="1558204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$14.50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19" y="2212848"/>
            <a:ext cx="2387237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2314221"/>
            <a:ext cx="1541961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 i="0">
                <a:latin typeface="Arial" panose="020B0604020202020204" pitchFamily="34" charset="0"/>
                <a:cs typeface="Arial" panose="020B0604020202020204" pitchFamily="34" charset="0"/>
              </a:rPr>
              <a:t>Trading Comps (LTM)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228972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877" y="2289724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6985" y="2944368"/>
            <a:ext cx="2387237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2988793"/>
            <a:ext cx="1714046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 i="0" dirty="0">
                <a:latin typeface="Arial" panose="020B0604020202020204" pitchFamily="34" charset="0"/>
                <a:cs typeface="Arial" panose="020B0604020202020204" pitchFamily="34" charset="0"/>
              </a:rPr>
              <a:t>Precedent Trans</a:t>
            </a:r>
            <a:r>
              <a:rPr lang="en-US" sz="1100" b="1" i="0" dirty="0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endParaRPr sz="1100" b="1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49785" y="302124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$13.50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9942" y="3021244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$17.80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6300" y="3675888"/>
            <a:ext cx="1998617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5760" y="3752367"/>
            <a:ext cx="1453896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 i="0" dirty="0">
                <a:latin typeface="Arial" panose="020B0604020202020204" pitchFamily="34" charset="0"/>
                <a:cs typeface="Arial" panose="020B0604020202020204" pitchFamily="34" charset="0"/>
              </a:rPr>
              <a:t>DCF (FCF Method)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9100" y="375276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0637" y="3752764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$13.10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8022" y="4407408"/>
            <a:ext cx="1887582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6125" y="4477326"/>
            <a:ext cx="1433527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 i="0" dirty="0">
                <a:latin typeface="Arial" panose="020B0604020202020204" pitchFamily="34" charset="0"/>
                <a:cs typeface="Arial" panose="020B0604020202020204" pitchFamily="34" charset="0"/>
              </a:rPr>
              <a:t>DCF (Exit Multiple)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0822" y="448428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$10.80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1325" y="4484284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$14.20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01987" y="1097280"/>
            <a:ext cx="0" cy="388620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7587" y="914399"/>
            <a:ext cx="1828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i="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$12.05 Unaffected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511431" y="1097280"/>
            <a:ext cx="0" cy="388620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14151" y="914399"/>
            <a:ext cx="21945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$16.39 Offer (+36%)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394960"/>
            <a:ext cx="10881357" cy="8686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5504688"/>
            <a:ext cx="11247119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115568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Offer of $16.39 sits at the upper end of trading comps and fully inside the precedent transaction range </a:t>
            </a:r>
            <a:r>
              <a:rPr lang="en-US"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consistent with a strategic-premium acquisition where unique conversion synergies justify pricing above market trading multiples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valuation analyses; DCF range derived from $11.23 fundamental value (group analysis); trading and precedent ranges from CapIQ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1966486-B181-0E82-0C0D-6B695839BD87}"/>
              </a:ext>
            </a:extLst>
          </p:cNvPr>
          <p:cNvCxnSpPr>
            <a:cxnSpLocks/>
          </p:cNvCxnSpPr>
          <p:nvPr/>
        </p:nvCxnSpPr>
        <p:spPr>
          <a:xfrm>
            <a:off x="2255520" y="1249677"/>
            <a:ext cx="0" cy="364768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D9746F0-43A8-B42E-ADE4-A7D2D8312D69}"/>
              </a:ext>
            </a:extLst>
          </p:cNvPr>
          <p:cNvCxnSpPr>
            <a:cxnSpLocks/>
          </p:cNvCxnSpPr>
          <p:nvPr/>
        </p:nvCxnSpPr>
        <p:spPr>
          <a:xfrm flipH="1">
            <a:off x="2425246" y="2759744"/>
            <a:ext cx="8136074" cy="276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139B1E9-7609-F889-AFF6-B9E1610CAE78}"/>
              </a:ext>
            </a:extLst>
          </p:cNvPr>
          <p:cNvCxnSpPr>
            <a:cxnSpLocks/>
          </p:cNvCxnSpPr>
          <p:nvPr/>
        </p:nvCxnSpPr>
        <p:spPr>
          <a:xfrm flipH="1">
            <a:off x="2431233" y="2018302"/>
            <a:ext cx="8136074" cy="276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581FAD0-2309-EA48-5297-D3EA2EFC73BF}"/>
              </a:ext>
            </a:extLst>
          </p:cNvPr>
          <p:cNvCxnSpPr>
            <a:cxnSpLocks/>
          </p:cNvCxnSpPr>
          <p:nvPr/>
        </p:nvCxnSpPr>
        <p:spPr>
          <a:xfrm flipH="1">
            <a:off x="2425246" y="3440496"/>
            <a:ext cx="8136074" cy="276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6C23EA0-B91B-6E02-C5F7-747770C681F2}"/>
              </a:ext>
            </a:extLst>
          </p:cNvPr>
          <p:cNvCxnSpPr>
            <a:cxnSpLocks/>
          </p:cNvCxnSpPr>
          <p:nvPr/>
        </p:nvCxnSpPr>
        <p:spPr>
          <a:xfrm flipH="1">
            <a:off x="2431233" y="4223324"/>
            <a:ext cx="8136074" cy="276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036C1E4B-8589-21DA-72D9-C51383B9879B}"/>
              </a:ext>
            </a:extLst>
          </p:cNvPr>
          <p:cNvSpPr/>
          <p:nvPr/>
        </p:nvSpPr>
        <p:spPr>
          <a:xfrm>
            <a:off x="274320" y="1552411"/>
            <a:ext cx="1829779" cy="2552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3643FBE-6A78-E53F-4921-947BFA25C561}"/>
              </a:ext>
            </a:extLst>
          </p:cNvPr>
          <p:cNvSpPr/>
          <p:nvPr/>
        </p:nvSpPr>
        <p:spPr>
          <a:xfrm>
            <a:off x="264405" y="2282693"/>
            <a:ext cx="1829779" cy="2552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94E4158-F3E9-EC3F-69C0-C7E37AB4F22F}"/>
              </a:ext>
            </a:extLst>
          </p:cNvPr>
          <p:cNvSpPr/>
          <p:nvPr/>
        </p:nvSpPr>
        <p:spPr>
          <a:xfrm>
            <a:off x="274320" y="2960588"/>
            <a:ext cx="1829779" cy="2552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B0C2DA-5172-7F45-96E3-400186C2B7A8}"/>
              </a:ext>
            </a:extLst>
          </p:cNvPr>
          <p:cNvSpPr/>
          <p:nvPr/>
        </p:nvSpPr>
        <p:spPr>
          <a:xfrm>
            <a:off x="274320" y="3726973"/>
            <a:ext cx="1829779" cy="2552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C509781-945C-B9AB-1FA7-5CEC11524295}"/>
              </a:ext>
            </a:extLst>
          </p:cNvPr>
          <p:cNvSpPr/>
          <p:nvPr/>
        </p:nvSpPr>
        <p:spPr>
          <a:xfrm>
            <a:off x="266764" y="4446559"/>
            <a:ext cx="1829779" cy="2552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PRICE </a:t>
            </a:r>
            <a:r>
              <a:rPr lang="en-US"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TERMS &amp; PREMIUM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943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Offer Price / NDLS Share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$16.39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Unaffected NDLS Share Price (5/8/26)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$12.05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Implied Premium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36.0%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NDLS Shares Outstanding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5.89M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Equity Purchase Price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$96.5M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NDLS Standalone Equity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$71.0M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Premium Paid / Required Synergy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$25.6M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Absorbed NDLS Debt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$105.6M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Total Transaction Value (incl. debt)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$201.9M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183898"/>
            <a:ext cx="1691640" cy="498598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$16.39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82495"/>
            <a:ext cx="16916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/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183898"/>
            <a:ext cx="1691640" cy="498598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3000" b="1" i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82495"/>
            <a:ext cx="16916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183898"/>
            <a:ext cx="1691640" cy="498598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$96.5M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682495"/>
            <a:ext cx="169164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EQUITY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53035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CAVA has $393M cash &amp; investments at FY2025 year-end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10127"/>
            <a:ext cx="53035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$96.5M cash purchase = ~24.6% of cash balance </a:t>
            </a:r>
            <a:r>
              <a:rPr lang="en-US"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31335"/>
            <a:ext cx="530352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Total cash need including debt refinancing: ~$201.9M (~51% of cash) </a:t>
            </a:r>
            <a:r>
              <a:rPr lang="en-US"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still within liquidity envelope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52544"/>
            <a:ext cx="530352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Phased store conversion ramp (50/65/75/70/60 over 2027–2031) preserves operating liquidity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11475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5352740"/>
            <a:ext cx="11475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FEASIBLE </a:t>
            </a:r>
            <a:r>
              <a:rPr lang="en-US" sz="1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100% cash funded from balance sheet; no equity issuance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analysis; CAVA 10-K FY2025; Noodles 10-K FY2025; market data as of 5/8/2026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VALUE </a:t>
            </a:r>
            <a:r>
              <a:rPr lang="en-US"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TWO SOURCES, ONE-TIME IN 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SYNERGIES  |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014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1 </a:t>
            </a:r>
            <a:r>
              <a:rPr lang="en-US"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LOWER CONVERSION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New CAVA greenfield build cost: ~$1.25M per restaurant (CAVA S-1 disclosures)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Converted restaurant cost (NDLS-style site): ~$0.65M per restaurant </a:t>
            </a:r>
            <a:r>
              <a:rPr lang="en-US"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roughly half the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Savings per restaurant: $0.60M × 320 stores = $192M total undiscounted capex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39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Validated by CAVA's prior Zoë's Kitchen conversions: William Blair (2023) confirms ~50% cost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112014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2</a:t>
            </a:r>
            <a:r>
              <a:rPr lang="en-US"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sz="13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FASTER OPENING BENEFIT (GROSS PROFIT PULLED FORWARD)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Each conversion saves ~2.5 months (0.208 years) vs. greenfield construction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First-year CAVA AUV assumption: $3.0M (William Blair Dec 2025, RBC Oct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Gross profit margin: 25.3% – 25.5% (CAVA 10-K FY2025); Tax rate: 21% (statutory)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11099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Value = (AUV × GP margin × time saved × stores) × (1 − tax rate); flows through 5-year ramp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11475720" cy="54864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5741360"/>
            <a:ext cx="11475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Synergies are ONE-TIME capex and timing benefits </a:t>
            </a:r>
            <a:r>
              <a:rPr lang="en-US" sz="1200" b="1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1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recurring annual cost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CAVA S-1 (2023); William Blair (2023, 2025); RBC Capital Markets (Oct 2025); RestaurantSpaces (2021)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7FAC88-8529-F5F0-9B82-8F7EACF08AF6}"/>
              </a:ext>
            </a:extLst>
          </p:cNvPr>
          <p:cNvCxnSpPr>
            <a:cxnSpLocks/>
          </p:cNvCxnSpPr>
          <p:nvPr/>
        </p:nvCxnSpPr>
        <p:spPr>
          <a:xfrm flipH="1">
            <a:off x="548640" y="3070436"/>
            <a:ext cx="63195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VALUE </a:t>
            </a:r>
            <a:r>
              <a:rPr lang="en-US"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5-YEAR RAMP &amp; PRESENT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SYNERGIES  |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943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 RAMP &amp; PRE-TAX SYNERGY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219579"/>
              </p:ext>
            </p:extLst>
          </p:nvPr>
        </p:nvGraphicFramePr>
        <p:xfrm>
          <a:off x="36576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Stores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Capex Sav.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Opening Benefit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Pre-tax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$30.0M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$7.9M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$37.9M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$39.0M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$10.4M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$49.4M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$45.0M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$12.0M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$57.0M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$42.0M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$11.2M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$53.2M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2031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$36.0M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$45.6M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$192.0M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$51.0M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$243.0M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4276"/>
              </p:ext>
            </p:extLst>
          </p:nvPr>
        </p:nvGraphicFramePr>
        <p:xfrm>
          <a:off x="6583680" y="82296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931920"/>
            <a:ext cx="5943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VALUE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99132"/>
              </p:ext>
            </p:extLst>
          </p:nvPr>
        </p:nvGraphicFramePr>
        <p:xfrm>
          <a:off x="365760" y="429768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PV Capex Savings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$136.0M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PV Faster-Opening Benefit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$46.7M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Total Pre-tax PV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$182.7M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After-tax PV (21% rate)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$144.3M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Required Synergy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$25.6M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3931920"/>
            <a:ext cx="5303520" cy="2103120"/>
          </a:xfrm>
          <a:prstGeom prst="roundRect">
            <a:avLst/>
          </a:prstGeom>
          <a:solidFill>
            <a:srgbClr val="92D050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COVERAGE OF PREMIUM 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179879"/>
            <a:ext cx="5303520" cy="126803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</a:t>
            </a:r>
            <a:r>
              <a:rPr sz="80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577840"/>
            <a:ext cx="53035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$144.3M after-tax PV  ÷  $25.6M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Synergies model; WACC 12.29% (CAVA pre-deal + 2% risk buffer for execution uncertainty)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NPV </a:t>
            </a:r>
            <a:r>
              <a:rPr lang="en-US"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 &amp; ACQUIRER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 |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577840" cy="3931920"/>
          </a:xfrm>
          <a:prstGeom prst="roundRect">
            <a:avLst/>
          </a:prstGeom>
          <a:solidFill>
            <a:srgbClr val="1E276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029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 (ACQUIRER)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51587"/>
            <a:ext cx="5577840" cy="96026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+$113.9M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5577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 BUILD-UP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value of NDLS (5.89M × $11.23)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1356" y="3474720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$66.16M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85615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(+) Risk-adjusted PV of synergies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1356" y="3785615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$144.30M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1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(−) Cash consideration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1356" y="4096511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($96.56M)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07407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 Deal NPV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1356" y="4407407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$113.90M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914400"/>
            <a:ext cx="5577840" cy="3931920"/>
          </a:xfrm>
          <a:prstGeom prst="roundRect">
            <a:avLst/>
          </a:prstGeom>
          <a:solidFill>
            <a:srgbClr val="92D050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59" y="1097280"/>
            <a:ext cx="5029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NOODLES &amp; CO. (TARGET SHAREHOLDERS)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51587"/>
            <a:ext cx="5577840" cy="96026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+$30.4M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08960"/>
            <a:ext cx="5577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 BUILD-UP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Per-share gain ($16.39 offer − $11.23 fundamental)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9236" y="3474720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$5.16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85615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Shares outstanding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9236" y="3785615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5.89M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96511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(=) Aggregate NPV to NDLS shareholders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9236" y="4096511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$30.39M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07407"/>
            <a:ext cx="36255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9236" y="4407407"/>
            <a:ext cx="1784908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$30.4M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212080"/>
            <a:ext cx="11475720" cy="54864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" y="5375600"/>
            <a:ext cx="11475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sides win </a:t>
            </a:r>
            <a:r>
              <a:rPr lang="en-US" sz="1200" b="0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 CAVA captures the larger absolute value because synergies are unique to its conversion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Deal NPV model; synergy values from after-tax PV calculation discounted at 12.29%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FINANCING STRATEGY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100% ALL-CASH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FINANCING  |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75720" cy="768096"/>
          </a:xfrm>
          <a:prstGeom prst="rect">
            <a:avLst/>
          </a:prstGeom>
          <a:noFill/>
        </p:spPr>
        <p:txBody>
          <a:bodyPr wrap="square" lIns="18288" tIns="18288" rIns="18288" bIns="18288" anchor="b">
            <a:spAutoFit/>
          </a:bodyPr>
          <a:lstStyle/>
          <a:p>
            <a:pPr algn="ctr"/>
            <a:r>
              <a:rPr sz="6600" b="1" i="0">
                <a:solidFill>
                  <a:srgbClr val="1E2761"/>
                </a:solidFill>
                <a:latin typeface="Calibri"/>
              </a:rPr>
              <a:t>$96.56M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91056"/>
            <a:ext cx="114757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EQUITY PURCHASE PRICE FUNDED ENTIRELY FROM CAVA'S $393M CASH &amp; INVESTMENTS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77440"/>
            <a:ext cx="5577840" cy="18288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NO STOCK ISSUANCE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51206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Avoids issuing equity at ~38% premium to intrinsic value. Protects CAVA shareholders from a potential price correction; preserves ownership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5577840" cy="18288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DEAL 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1206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All-cash consideration provides NDLS shareholders price </a:t>
            </a:r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certainty </a:t>
            </a:r>
            <a:r>
              <a:rPr lang="en-US"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eliminates the equity price risk that would accompany stock-based deal structures and reduces target-rejection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434840"/>
            <a:ext cx="5577840" cy="18288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ROIC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79"/>
            <a:ext cx="51206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Deploys low-yield idle cash into ROIC-accretive restaurant assets. Cash currently earns minimal interest income; converted CAVA restaurants generate unit-level returns well above current cash yield.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434840"/>
            <a:ext cx="5577840" cy="18288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LIQUIDITY HEADROOM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83479"/>
            <a:ext cx="51206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$296.44M cash remaining post-close — preserves balance sheet flexibility for ongoing greenfield expansion. Phased $50/65/75/70/60 conversion ramp (2027–2031) keeps annual cash demand manageable.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11475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E2761"/>
                </a:solidFill>
                <a:latin typeface="Calibri"/>
              </a:rPr>
              <a:t>No exchange ratio applies — 100% cash transaction. CAVA absorbs $105.6M of existing NDLS debt at close (no refinancing required).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Source: Team financing analysis; CAVA balance sheet position per FY2025 10-K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CAPITAL STRUCTURE &amp; CREDIT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 |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943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STRUCTURE </a:t>
            </a:r>
            <a:r>
              <a:rPr lang="en-US"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 vs. </a:t>
            </a:r>
            <a:r>
              <a:rPr sz="14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 ($M)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Pre-Deal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Pro-Forma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Cash &amp; Investments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$393.0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$296.4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−$96.6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Debt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$0.0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$105.6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+$105.6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Net Debt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($393.0)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($190.8)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+$202.2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Enterprise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$9,517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$9,838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+$321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Debt / 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~1.1%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+1.1pp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Net Debt / EBITDA (LTM)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n/m (net cash)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n/m (net cash)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Interest Coverage (est.)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&gt;15×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822960"/>
            <a:ext cx="53035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3035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CAVA transitions from zero-debt to ~1% Debt/EV </a:t>
            </a:r>
            <a:r>
              <a:rPr lang="en-US"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minimal leverage by any restaurant-industry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18488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Net debt position remains negative (i.e., net cash) post-close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48256"/>
            <a:ext cx="5303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Growing operating cash flow trajectory provides ample coverage of $105.6M absorbed 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78024"/>
            <a:ext cx="5303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Anticipated synergy inflows further strengthen interest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08960"/>
            <a:ext cx="530352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53035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 dirty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89896"/>
            <a:ext cx="530352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 </a:t>
            </a:r>
            <a:r>
              <a:rPr lang="en-US"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pro-forma leverage remains exceptionally low; strong liquidity and growing CFO comfortably service the modest debt absorbed. No downgrade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46320"/>
            <a:ext cx="11475720" cy="100584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113385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113385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deal lifts pro-forma leverage from 0% to ~1% Debt/EV </a:t>
            </a:r>
            <a:r>
              <a:rPr lang="en-US"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well below any fast-casual industry benchmark. CAVA retains its conservative capital posture while gaining strategic conversion assets.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capital structure analysis; CAVA &amp; Noodles 10-K filings FY2025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WACC </a:t>
            </a:r>
            <a:r>
              <a:rPr lang="en-US"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MARGINALLY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WACC  | 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3200400" cy="1645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200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8C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PRE-DEAL WACC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16902"/>
            <a:ext cx="3200400" cy="10525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10.29%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2148840"/>
            <a:ext cx="1188720" cy="64008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E8C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3200400" cy="164592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3200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WACC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16902"/>
            <a:ext cx="3200400" cy="10525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011680"/>
            <a:ext cx="1828800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0" y="2011680"/>
            <a:ext cx="18288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349716"/>
            <a:ext cx="18288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−7 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430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DRIVERS OF MARGINAL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11430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Absorbed NDLS debt ($105.6M) introduces a lower-cost capital component vs. CAVA's prior all-equity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11430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Tax-shield benefit on absorbed debt interest (21% tax rate) reduces effective post-tax cost of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91456"/>
            <a:ext cx="11430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No meaningful increase in financial distress risk at ~1.1% pro-forma Debt/EV </a:t>
            </a:r>
            <a:r>
              <a:rPr lang="en-US"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comfortably within investment-grade territory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303520"/>
            <a:ext cx="11475720" cy="9144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413248"/>
            <a:ext cx="11201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 ANALYSIS REMAINS VALID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110996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Synergies were discounted at 12.29% (CAVA pre-deal WACC + 2% risk buffer for execution uncertainty) </a:t>
            </a:r>
            <a:r>
              <a:rPr lang="en-US"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conservative. Lower actual pro-forma WACC (10.22%) provides an additional margin of safety on the NPV calculation.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229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Team WACC calculation; CAVA &amp; Noodles cost-of-capital assumptions per group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PRO-FORMA INCOME STATEMENT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FY2026E 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PRO-FORMA  | 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484744"/>
              </p:ext>
            </p:extLst>
          </p:nvPr>
        </p:nvGraphicFramePr>
        <p:xfrm>
          <a:off x="365760" y="868680"/>
          <a:ext cx="11475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CAVA Standalone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NDLS Standalone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Synergies</a:t>
                      </a:r>
                    </a:p>
                  </a:txBody>
                  <a:tcPr marL="45720" marR="45720" marT="27432" marB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Pro-Forma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1,454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1,939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(1,099)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(366)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(1,465)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355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474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Gross Margin %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24.5%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SG&amp;A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(168)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(62)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(238)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Operating Income (EBIT)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(8)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Operating Margin %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Interest Expense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(6)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Pre-tax Income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Taxes (21%)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(11)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(5)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(14)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(6)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Shares Outstanding (M)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119.87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119.87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97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EPS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$0.54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555555"/>
                          </a:solidFill>
                          <a:latin typeface="Calibri"/>
                        </a:rPr>
                        <a:t>$0.63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349240"/>
            <a:ext cx="11475720" cy="91440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458968"/>
            <a:ext cx="11201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YEAR-1 EPS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10996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Marginally dilutive on a GAAP basis due to integration &amp; transaction costs </a:t>
            </a:r>
            <a:r>
              <a:rPr lang="en-US"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 +17% accretive on a run-rate basis once synergies fully ramp by 2029. EPS improves from $0.54 standalone to $0.63 pro-forma with synergies.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Source: Team pro-forma model; CAVA 10-K FY2025; Noodles 10-K FY2025; year-1 synergies estimated at ~$10M pre-tax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POST-MERGER STOCK PRICE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STOCK PRICE  |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68580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EQUITY VALUE BUILD-UP &amp; PER-SHARE WALK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973825"/>
              </p:ext>
            </p:extLst>
          </p:nvPr>
        </p:nvGraphicFramePr>
        <p:xfrm>
          <a:off x="365760" y="118872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 ($M)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CAVA Standalone Enterprise Value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9,517.49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(+) NDLS Enterprise Value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176.60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(+) After-tax PV of Synergies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144.30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Pro-Forma Combined EV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9,838.39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(−) Pro-Forma Debt (NDLS absorbed)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(105.60)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(+) Pro-Forma Cash ($393M − $96.56M)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296.44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Pro-Forma Equity Value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10,029.23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(÷) CAVA Shares Outstanding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119.87M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Implied Post-Merger Share Price</a:t>
                      </a:r>
                    </a:p>
                  </a:txBody>
                  <a:tcPr marL="45720" marR="45720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$83.67</a:t>
                      </a:r>
                    </a:p>
                  </a:txBody>
                  <a:tcPr marL="45720" marR="45720" marT="27432" marB="2743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005840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POST-MERGER SHARE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4297680" cy="1463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0" b="1" i="0">
                <a:solidFill>
                  <a:srgbClr val="1E2761"/>
                </a:solidFill>
                <a:latin typeface="Calibri"/>
              </a:rPr>
              <a:t>$83.67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17520"/>
            <a:ext cx="3931920" cy="822960"/>
          </a:xfrm>
          <a:prstGeom prst="roundRect">
            <a:avLst/>
          </a:prstGeom>
          <a:solidFill>
            <a:srgbClr val="E8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3017520"/>
            <a:ext cx="3931920" cy="822960"/>
          </a:xfrm>
          <a:prstGeom prst="rect">
            <a:avLst/>
          </a:prstGeom>
          <a:solidFill>
            <a:srgbClr val="92D050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+$4.27  (+5.4%)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977639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vs. $79.40 pre-deal share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3975" y="4366260"/>
            <a:ext cx="4251960" cy="1554480"/>
          </a:xfrm>
          <a:prstGeom prst="roundRect">
            <a:avLst/>
          </a:prstGeom>
          <a:solidFill>
            <a:srgbClr val="F2F2F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4498848"/>
            <a:ext cx="39776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38862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Market should internalize $144M of synergy value plus strategic redeployment of idle cash into ROIC-accretive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49240"/>
            <a:ext cx="38862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Day-one announcement reaction should approach this theoretical value, subject to deal-certainty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Source: Team analysis; CAVA 10-K FY2025; market data as of 5/8/2026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716"/>
            <a:ext cx="1146017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RECOMMENDATION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PROCEED WITH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CONCLUSION  |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11475720" cy="54864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6480"/>
            <a:ext cx="11475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 i="1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 should acquire Noodles &amp; Co. at $16.39 / share, 100% cash </a:t>
            </a:r>
            <a:r>
              <a:rPr lang="en-US" sz="1200" b="1" i="1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1" i="1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strong synergy coverage, conservative financing, strategic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79751"/>
            <a:ext cx="557784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COVERAGE 5.6×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79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$144.3M after-tax PV vs. $25.6M required premium — meaningful cushion even under conservative 12.29% discount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CONSERVATIVE FINANCING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$96.56M cash deployment uses only 24.6% of CAVA's $393M reserve; pro-forma leverage rises only 0% → ~1% Debt/EV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ACCRETIVE COST OF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WACC moves 10.29% → 10.22%, adding additional margin of safety to the NPV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PROVEN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Mirrors CAVA's own 2018 Zoë's Kitchen conversion at 17.4× EBITDA — strongest possible precedent for this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55778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79751"/>
            <a:ext cx="557784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IMPLICATIONS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9456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 SHAREHOLDERS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79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+$113.9M deal NPV; +$4.27 (+5.4%) implied share-price appreciation; deploys idle cash into ROIC-accretive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NDLS SHAREHOLDERS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+$30.4M aggregate value capture via 36% premium — well above standalone fundamental trajectory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ACCELERATION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8912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~5 years of unit growth without straining greenfield development pipeline or real estate sourcing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74920"/>
            <a:ext cx="521207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RISK MITIGATED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49240"/>
            <a:ext cx="5212079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Phased 50/65/75/70/60 conversion ramp (2027–2031) protects liquidity and avoids organizational strain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89320"/>
            <a:ext cx="11475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114591"/>
            <a:ext cx="1147572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 i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VERDICT: PROCEED  </a:t>
            </a:r>
            <a:r>
              <a:rPr lang="en-US" sz="1400" b="1" i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b="1" i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$16.39 / share, 100% cash, target close 4Q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Source: Team analysis; CAVA 10-K FY2025; Noodles 10-K FY2025; broker research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28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91695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Calibri"/>
              </a:rPr>
              <a:t>CAVA 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Noodles &amp; Co.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 Deal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- 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M&amp;A Advisory  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|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3836</Words>
  <Application>Microsoft Office PowerPoint</Application>
  <PresentationFormat>Widescreen</PresentationFormat>
  <Paragraphs>801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Keskar, Niranjan Mukund</cp:lastModifiedBy>
  <cp:revision>4</cp:revision>
  <dcterms:created xsi:type="dcterms:W3CDTF">2013-01-27T09:14:16Z</dcterms:created>
  <dcterms:modified xsi:type="dcterms:W3CDTF">2026-05-13T21:56:15Z</dcterms:modified>
  <cp:category/>
</cp:coreProperties>
</file>